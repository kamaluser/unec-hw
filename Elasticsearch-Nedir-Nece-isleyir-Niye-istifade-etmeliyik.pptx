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DM Sans Semi Bold"/>
      <p:regular r:id="rId15"/>
    </p:embeddedFont>
    <p:embeddedFont>
      <p:font typeface="DM Sans Semi Bold"/>
      <p:regular r:id="rId16"/>
    </p:embeddedFont>
    <p:embeddedFont>
      <p:font typeface="DM Sans Semi Bold"/>
      <p:regular r:id="rId17"/>
    </p:embeddedFont>
    <p:embeddedFont>
      <p:font typeface="DM Sans Semi Bold"/>
      <p:regular r:id="rId18"/>
    </p:embeddedFont>
    <p:embeddedFont>
      <p:font typeface="Inter Medium"/>
      <p:regular r:id="rId19"/>
    </p:embeddedFont>
    <p:embeddedFont>
      <p:font typeface="Inter Medium"/>
      <p:regular r:id="rId20"/>
    </p:embeddedFont>
    <p:embeddedFont>
      <p:font typeface="Inter Medium"/>
      <p:regular r:id="rId21"/>
    </p:embeddedFont>
    <p:embeddedFont>
      <p:font typeface="Inter Medium"/>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7.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image" Target="../media/image-7-10.png"/><Relationship Id="rId11" Type="http://schemas.openxmlformats.org/officeDocument/2006/relationships/image" Target="../media/image-7-11.svg"/><Relationship Id="rId12" Type="http://schemas.openxmlformats.org/officeDocument/2006/relationships/slideLayout" Target="../slideLayouts/slideLayout8.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51572"/>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Elasticsearch: Nədir? Necə işləyir? Niyə istifadə etməliyik?</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697242"/>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030303"/>
                </a:solidFill>
                <a:latin typeface="DM Sans Semi Bold" pitchFamily="34" charset="0"/>
                <a:ea typeface="DM Sans Semi Bold" pitchFamily="34" charset="-122"/>
                <a:cs typeface="DM Sans Semi Bold" pitchFamily="34" charset="-120"/>
              </a:rPr>
              <a:t>Giriş</a:t>
            </a:r>
            <a:endParaRPr lang="en-US" sz="3550" dirty="0"/>
          </a:p>
        </p:txBody>
      </p:sp>
      <p:sp>
        <p:nvSpPr>
          <p:cNvPr id="3" name="Text 1"/>
          <p:cNvSpPr/>
          <p:nvPr/>
        </p:nvSpPr>
        <p:spPr>
          <a:xfrm>
            <a:off x="793790" y="3717846"/>
            <a:ext cx="13042821"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Bu tool haqqında çox eşitmiş ola bilərsiz — bəziləri onu sadəcə bir “index” deyə tanıyır, bəziləri axtarış mühərriki, bəziləri isə big-data həlli kimi düşünür. Hər nə deyilsə — bunların hamısı doğrudur. Sektor üçün vacib olan — məlumat saxlama, idarə etmə və analiz məsələlərində — bu alət geniş imkanlar yaradır. Bu məqalədə izah edəcəyəm ki, bu sistem necə oldu da — kiçik bir axtarış mühərriki olaraq başladığı halda — indi Elastic Stack kimi böyük bir “DBMS community”yə çevrildi.</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7398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Elastic Stack nədir?</a:t>
            </a:r>
            <a:endParaRPr lang="en-US" sz="4450" dirty="0"/>
          </a:p>
        </p:txBody>
      </p:sp>
      <p:sp>
        <p:nvSpPr>
          <p:cNvPr id="4" name="Text 1"/>
          <p:cNvSpPr/>
          <p:nvPr/>
        </p:nvSpPr>
        <p:spPr>
          <a:xfrm>
            <a:off x="793790" y="3422928"/>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“Elastic Stack” vasitəsilə istənilən məlumat mənbəyindən — istənilən tipli məlumatı alıb — real vaxtda axtarış, analiz və vizuallaşdırma etmək olur. Məsələn, siz taksi xidməti üçün sürücü axtaranda, ya da gecə xəritədən restoran tapanda — bu güc arxada Elastic-dən istifadə oluna bilər.</a:t>
            </a:r>
            <a:endParaRPr lang="en-US" sz="1750" dirty="0"/>
          </a:p>
        </p:txBody>
      </p:sp>
      <p:sp>
        <p:nvSpPr>
          <p:cNvPr id="5" name="Text 2"/>
          <p:cNvSpPr/>
          <p:nvPr/>
        </p:nvSpPr>
        <p:spPr>
          <a:xfrm>
            <a:off x="793790" y="5492591"/>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Bu paketin ürəyi isə Elasticsearch-dir.</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35443"/>
            <a:ext cx="5997535"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1. Elasticsearch nədir?</a:t>
            </a:r>
            <a:endParaRPr lang="en-US" sz="4450" dirty="0"/>
          </a:p>
        </p:txBody>
      </p:sp>
      <p:sp>
        <p:nvSpPr>
          <p:cNvPr id="3" name="Shape 1"/>
          <p:cNvSpPr/>
          <p:nvPr/>
        </p:nvSpPr>
        <p:spPr>
          <a:xfrm>
            <a:off x="793790" y="2797850"/>
            <a:ext cx="6407944" cy="1966198"/>
          </a:xfrm>
          <a:prstGeom prst="roundRect">
            <a:avLst>
              <a:gd name="adj" fmla="val 7441"/>
            </a:avLst>
          </a:prstGeom>
          <a:solidFill>
            <a:srgbClr val="FFFFFF"/>
          </a:solidFill>
          <a:ln w="30480">
            <a:solidFill>
              <a:srgbClr val="D8D4D4"/>
            </a:solidFill>
            <a:prstDash val="solid"/>
          </a:ln>
        </p:spPr>
      </p:sp>
      <p:sp>
        <p:nvSpPr>
          <p:cNvPr id="4" name="Shape 2"/>
          <p:cNvSpPr/>
          <p:nvPr/>
        </p:nvSpPr>
        <p:spPr>
          <a:xfrm>
            <a:off x="763310" y="2797850"/>
            <a:ext cx="121920" cy="1966198"/>
          </a:xfrm>
          <a:prstGeom prst="roundRect">
            <a:avLst>
              <a:gd name="adj" fmla="val 27907"/>
            </a:avLst>
          </a:prstGeom>
          <a:solidFill>
            <a:srgbClr val="1C9770"/>
          </a:solidFill>
          <a:ln/>
        </p:spPr>
      </p:sp>
      <p:sp>
        <p:nvSpPr>
          <p:cNvPr id="5" name="Text 3"/>
          <p:cNvSpPr/>
          <p:nvPr/>
        </p:nvSpPr>
        <p:spPr>
          <a:xfrm>
            <a:off x="1142524" y="3055144"/>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1C9770"/>
                </a:solidFill>
                <a:latin typeface="Inter Medium" pitchFamily="34" charset="0"/>
                <a:ea typeface="Inter Medium" pitchFamily="34" charset="-122"/>
                <a:cs typeface="Inter Medium" pitchFamily="34" charset="-120"/>
              </a:rPr>
              <a:t>Elasticsearch Java ilə yazılıb və açıq qaynaqdır. Apache Lucene üzərində qurulub.</a:t>
            </a:r>
            <a:endParaRPr lang="en-US" sz="1750" dirty="0"/>
          </a:p>
        </p:txBody>
      </p:sp>
      <p:sp>
        <p:nvSpPr>
          <p:cNvPr id="6" name="Shape 4"/>
          <p:cNvSpPr/>
          <p:nvPr/>
        </p:nvSpPr>
        <p:spPr>
          <a:xfrm>
            <a:off x="7428548" y="2797850"/>
            <a:ext cx="6408063" cy="1966198"/>
          </a:xfrm>
          <a:prstGeom prst="roundRect">
            <a:avLst>
              <a:gd name="adj" fmla="val 7441"/>
            </a:avLst>
          </a:prstGeom>
          <a:solidFill>
            <a:srgbClr val="FFFFFF"/>
          </a:solidFill>
          <a:ln w="30480">
            <a:solidFill>
              <a:srgbClr val="D8D4D4"/>
            </a:solidFill>
            <a:prstDash val="solid"/>
          </a:ln>
        </p:spPr>
      </p:sp>
      <p:sp>
        <p:nvSpPr>
          <p:cNvPr id="7" name="Shape 5"/>
          <p:cNvSpPr/>
          <p:nvPr/>
        </p:nvSpPr>
        <p:spPr>
          <a:xfrm>
            <a:off x="7398067" y="2797850"/>
            <a:ext cx="121920" cy="1966198"/>
          </a:xfrm>
          <a:prstGeom prst="roundRect">
            <a:avLst>
              <a:gd name="adj" fmla="val 27907"/>
            </a:avLst>
          </a:prstGeom>
          <a:solidFill>
            <a:srgbClr val="1C9770"/>
          </a:solidFill>
          <a:ln/>
        </p:spPr>
      </p:sp>
      <p:sp>
        <p:nvSpPr>
          <p:cNvPr id="8" name="Text 6"/>
          <p:cNvSpPr/>
          <p:nvPr/>
        </p:nvSpPr>
        <p:spPr>
          <a:xfrm>
            <a:off x="7777282" y="3055144"/>
            <a:ext cx="5802035" cy="1451610"/>
          </a:xfrm>
          <a:prstGeom prst="rect">
            <a:avLst/>
          </a:prstGeom>
          <a:noFill/>
          <a:ln/>
        </p:spPr>
        <p:txBody>
          <a:bodyPr wrap="square" lIns="0" tIns="0" rIns="0" bIns="0" rtlCol="0" anchor="t"/>
          <a:lstStyle/>
          <a:p>
            <a:pPr algn="l" indent="0" marL="0">
              <a:lnSpc>
                <a:spcPts val="2850"/>
              </a:lnSpc>
              <a:buNone/>
            </a:pPr>
            <a:r>
              <a:rPr lang="en-US" sz="1750" dirty="0">
                <a:solidFill>
                  <a:srgbClr val="1C9770"/>
                </a:solidFill>
                <a:latin typeface="Inter Medium" pitchFamily="34" charset="0"/>
                <a:ea typeface="Inter Medium" pitchFamily="34" charset="-122"/>
                <a:cs typeface="Inter Medium" pitchFamily="34" charset="-120"/>
              </a:rPr>
              <a:t>O, çox böyük həcimli məlumatları sürətlə, demək olar ki, real vaxtda saxlamağa, axtarmağa və analiz etməyə imkan verir — nəticələr millisekundlarda qaytarılır.</a:t>
            </a:r>
            <a:endParaRPr lang="en-US" sz="1750" dirty="0"/>
          </a:p>
        </p:txBody>
      </p:sp>
      <p:sp>
        <p:nvSpPr>
          <p:cNvPr id="9" name="Shape 7"/>
          <p:cNvSpPr/>
          <p:nvPr/>
        </p:nvSpPr>
        <p:spPr>
          <a:xfrm>
            <a:off x="793790" y="4990862"/>
            <a:ext cx="6407944" cy="1603296"/>
          </a:xfrm>
          <a:prstGeom prst="roundRect">
            <a:avLst>
              <a:gd name="adj" fmla="val 9125"/>
            </a:avLst>
          </a:prstGeom>
          <a:solidFill>
            <a:srgbClr val="FFFFFF"/>
          </a:solidFill>
          <a:ln w="30480">
            <a:solidFill>
              <a:srgbClr val="D8D4D4"/>
            </a:solidFill>
            <a:prstDash val="solid"/>
          </a:ln>
        </p:spPr>
      </p:sp>
      <p:sp>
        <p:nvSpPr>
          <p:cNvPr id="10" name="Shape 8"/>
          <p:cNvSpPr/>
          <p:nvPr/>
        </p:nvSpPr>
        <p:spPr>
          <a:xfrm>
            <a:off x="763310" y="4990862"/>
            <a:ext cx="121920" cy="1603296"/>
          </a:xfrm>
          <a:prstGeom prst="roundRect">
            <a:avLst>
              <a:gd name="adj" fmla="val 27907"/>
            </a:avLst>
          </a:prstGeom>
          <a:solidFill>
            <a:srgbClr val="1C9770"/>
          </a:solidFill>
          <a:ln/>
        </p:spPr>
      </p:sp>
      <p:sp>
        <p:nvSpPr>
          <p:cNvPr id="11" name="Text 9"/>
          <p:cNvSpPr/>
          <p:nvPr/>
        </p:nvSpPr>
        <p:spPr>
          <a:xfrm>
            <a:off x="1142524" y="5248156"/>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1C9770"/>
                </a:solidFill>
                <a:latin typeface="Inter Medium" pitchFamily="34" charset="0"/>
                <a:ea typeface="Inter Medium" pitchFamily="34" charset="-122"/>
                <a:cs typeface="Inter Medium" pitchFamily="34" charset="-120"/>
              </a:rPr>
              <a:t>Elasticsearch “ənənəvi” cədvəllər (tables) və sxemlər (schema) əvəzinə, sənədlər (JSON documents) üzərində işləyir.</a:t>
            </a:r>
            <a:endParaRPr lang="en-US" sz="1750" dirty="0"/>
          </a:p>
        </p:txBody>
      </p:sp>
      <p:sp>
        <p:nvSpPr>
          <p:cNvPr id="12" name="Shape 10"/>
          <p:cNvSpPr/>
          <p:nvPr/>
        </p:nvSpPr>
        <p:spPr>
          <a:xfrm>
            <a:off x="7428548" y="4990862"/>
            <a:ext cx="6408063" cy="1603296"/>
          </a:xfrm>
          <a:prstGeom prst="roundRect">
            <a:avLst>
              <a:gd name="adj" fmla="val 9125"/>
            </a:avLst>
          </a:prstGeom>
          <a:solidFill>
            <a:srgbClr val="FFFFFF"/>
          </a:solidFill>
          <a:ln w="30480">
            <a:solidFill>
              <a:srgbClr val="D8D4D4"/>
            </a:solidFill>
            <a:prstDash val="solid"/>
          </a:ln>
        </p:spPr>
      </p:sp>
      <p:sp>
        <p:nvSpPr>
          <p:cNvPr id="13" name="Shape 11"/>
          <p:cNvSpPr/>
          <p:nvPr/>
        </p:nvSpPr>
        <p:spPr>
          <a:xfrm>
            <a:off x="7398067" y="4990862"/>
            <a:ext cx="121920" cy="1603296"/>
          </a:xfrm>
          <a:prstGeom prst="roundRect">
            <a:avLst>
              <a:gd name="adj" fmla="val 27907"/>
            </a:avLst>
          </a:prstGeom>
          <a:solidFill>
            <a:srgbClr val="1C9770"/>
          </a:solidFill>
          <a:ln/>
        </p:spPr>
      </p:sp>
      <p:sp>
        <p:nvSpPr>
          <p:cNvPr id="14" name="Text 12"/>
          <p:cNvSpPr/>
          <p:nvPr/>
        </p:nvSpPr>
        <p:spPr>
          <a:xfrm>
            <a:off x="7777282" y="5248156"/>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Bütün əməliyyatlar REST API vasitəsilə həyata keçirilir.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40602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2. Elasticsearch necə işləyir?</a:t>
            </a:r>
            <a:endParaRPr lang="en-US" sz="4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8277" y="391478"/>
            <a:ext cx="3076813" cy="355997"/>
          </a:xfrm>
          <a:prstGeom prst="rect">
            <a:avLst/>
          </a:prstGeom>
          <a:noFill/>
          <a:ln/>
        </p:spPr>
        <p:txBody>
          <a:bodyPr wrap="none" lIns="0" tIns="0" rIns="0" bIns="0" rtlCol="0" anchor="t"/>
          <a:lstStyle/>
          <a:p>
            <a:pPr algn="l" indent="0" marL="0">
              <a:lnSpc>
                <a:spcPts val="2800"/>
              </a:lnSpc>
              <a:buNone/>
            </a:pPr>
            <a:r>
              <a:rPr lang="en-US" sz="2200" dirty="0">
                <a:solidFill>
                  <a:srgbClr val="030303"/>
                </a:solidFill>
                <a:latin typeface="DM Sans Semi Bold" pitchFamily="34" charset="0"/>
                <a:ea typeface="DM Sans Semi Bold" pitchFamily="34" charset="-122"/>
                <a:cs typeface="DM Sans Semi Bold" pitchFamily="34" charset="-120"/>
              </a:rPr>
              <a:t>2.1 Mantıksal anlayışlar</a:t>
            </a:r>
            <a:endParaRPr lang="en-US" sz="2200" dirty="0"/>
          </a:p>
        </p:txBody>
      </p:sp>
      <p:sp>
        <p:nvSpPr>
          <p:cNvPr id="3" name="Shape 1"/>
          <p:cNvSpPr/>
          <p:nvPr/>
        </p:nvSpPr>
        <p:spPr>
          <a:xfrm>
            <a:off x="498277" y="1032153"/>
            <a:ext cx="4449723" cy="2528292"/>
          </a:xfrm>
          <a:prstGeom prst="roundRect">
            <a:avLst>
              <a:gd name="adj" fmla="val 845"/>
            </a:avLst>
          </a:prstGeom>
          <a:solidFill>
            <a:srgbClr val="F2EEEE"/>
          </a:solidFill>
          <a:ln/>
        </p:spPr>
      </p:sp>
      <p:sp>
        <p:nvSpPr>
          <p:cNvPr id="4" name="Shape 2"/>
          <p:cNvSpPr/>
          <p:nvPr/>
        </p:nvSpPr>
        <p:spPr>
          <a:xfrm>
            <a:off x="640556" y="1174433"/>
            <a:ext cx="427077" cy="427077"/>
          </a:xfrm>
          <a:prstGeom prst="roundRect">
            <a:avLst>
              <a:gd name="adj" fmla="val 21408518"/>
            </a:avLst>
          </a:prstGeom>
          <a:solidFill>
            <a:srgbClr val="1C9770"/>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7952" y="1291828"/>
            <a:ext cx="192167" cy="192167"/>
          </a:xfrm>
          <a:prstGeom prst="rect">
            <a:avLst/>
          </a:prstGeom>
        </p:spPr>
      </p:pic>
      <p:sp>
        <p:nvSpPr>
          <p:cNvPr id="6" name="Text 3"/>
          <p:cNvSpPr/>
          <p:nvPr/>
        </p:nvSpPr>
        <p:spPr>
          <a:xfrm>
            <a:off x="640556" y="1743789"/>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Document</a:t>
            </a:r>
            <a:endParaRPr lang="en-US" sz="1400" dirty="0"/>
          </a:p>
        </p:txBody>
      </p:sp>
      <p:sp>
        <p:nvSpPr>
          <p:cNvPr id="7" name="Text 4"/>
          <p:cNvSpPr/>
          <p:nvPr/>
        </p:nvSpPr>
        <p:spPr>
          <a:xfrm>
            <a:off x="640556" y="2051566"/>
            <a:ext cx="4165163" cy="911066"/>
          </a:xfrm>
          <a:prstGeom prst="rect">
            <a:avLst/>
          </a:prstGeom>
          <a:noFill/>
          <a:ln/>
        </p:spPr>
        <p:txBody>
          <a:bodyPr wrap="squar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Elasticsearch-də indekslənə bilən və işlənə bilən JSON formatlı əsas məlumat vahididir. Bu, bir ansiklopediya məqaləsi, veb server loq faylı və ya artıq JSON formatında olan bir şey ola bilər.</a:t>
            </a:r>
            <a:endParaRPr lang="en-US" sz="1100" dirty="0"/>
          </a:p>
        </p:txBody>
      </p:sp>
      <p:sp>
        <p:nvSpPr>
          <p:cNvPr id="8" name="Shape 5"/>
          <p:cNvSpPr/>
          <p:nvPr/>
        </p:nvSpPr>
        <p:spPr>
          <a:xfrm>
            <a:off x="5090279" y="1032153"/>
            <a:ext cx="4449723" cy="2528292"/>
          </a:xfrm>
          <a:prstGeom prst="roundRect">
            <a:avLst>
              <a:gd name="adj" fmla="val 845"/>
            </a:avLst>
          </a:prstGeom>
          <a:solidFill>
            <a:srgbClr val="F2EEEE"/>
          </a:solidFill>
          <a:ln/>
        </p:spPr>
      </p:sp>
      <p:sp>
        <p:nvSpPr>
          <p:cNvPr id="9" name="Shape 6"/>
          <p:cNvSpPr/>
          <p:nvPr/>
        </p:nvSpPr>
        <p:spPr>
          <a:xfrm>
            <a:off x="5232559" y="1174433"/>
            <a:ext cx="427077" cy="427077"/>
          </a:xfrm>
          <a:prstGeom prst="roundRect">
            <a:avLst>
              <a:gd name="adj" fmla="val 21408518"/>
            </a:avLst>
          </a:prstGeom>
          <a:solidFill>
            <a:srgbClr val="1C9770"/>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49954" y="1291828"/>
            <a:ext cx="192167" cy="192167"/>
          </a:xfrm>
          <a:prstGeom prst="rect">
            <a:avLst/>
          </a:prstGeom>
        </p:spPr>
      </p:pic>
      <p:sp>
        <p:nvSpPr>
          <p:cNvPr id="11" name="Text 7"/>
          <p:cNvSpPr/>
          <p:nvPr/>
        </p:nvSpPr>
        <p:spPr>
          <a:xfrm>
            <a:off x="5232559" y="1743789"/>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Index</a:t>
            </a:r>
            <a:endParaRPr lang="en-US" sz="1400" dirty="0"/>
          </a:p>
        </p:txBody>
      </p:sp>
      <p:sp>
        <p:nvSpPr>
          <p:cNvPr id="12" name="Text 8"/>
          <p:cNvSpPr/>
          <p:nvPr/>
        </p:nvSpPr>
        <p:spPr>
          <a:xfrm>
            <a:off x="5232559" y="2051566"/>
            <a:ext cx="4165163" cy="1366599"/>
          </a:xfrm>
          <a:prstGeom prst="rect">
            <a:avLst/>
          </a:prstGeom>
          <a:noFill/>
          <a:ln/>
        </p:spPr>
        <p:txBody>
          <a:bodyPr wrap="squar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Oxşar xüsusiyyətlərə malik sənədlərin toplandığı yerdir. Elisastic içində sorğu edərkən istifadə olunan ən yüksək səviyyəli varlıqdır. Bir əlaqəli verilənlər bazasındakı “database”yə bənzədilə bilər. Məsələn, e-ticarət saytı üçün “müştərilər”, “sifarişlər”, “məhsullar” kimi indexlər yaratmaq olar.</a:t>
            </a:r>
            <a:endParaRPr lang="en-US" sz="1100" dirty="0"/>
          </a:p>
        </p:txBody>
      </p:sp>
      <p:sp>
        <p:nvSpPr>
          <p:cNvPr id="13" name="Shape 9"/>
          <p:cNvSpPr/>
          <p:nvPr/>
        </p:nvSpPr>
        <p:spPr>
          <a:xfrm>
            <a:off x="9682282" y="1032153"/>
            <a:ext cx="4449842" cy="2528292"/>
          </a:xfrm>
          <a:prstGeom prst="roundRect">
            <a:avLst>
              <a:gd name="adj" fmla="val 845"/>
            </a:avLst>
          </a:prstGeom>
          <a:solidFill>
            <a:srgbClr val="F2EEEE"/>
          </a:solidFill>
          <a:ln/>
        </p:spPr>
      </p:sp>
      <p:sp>
        <p:nvSpPr>
          <p:cNvPr id="14" name="Shape 10"/>
          <p:cNvSpPr/>
          <p:nvPr/>
        </p:nvSpPr>
        <p:spPr>
          <a:xfrm>
            <a:off x="9824561" y="1174433"/>
            <a:ext cx="427077" cy="427077"/>
          </a:xfrm>
          <a:prstGeom prst="roundRect">
            <a:avLst>
              <a:gd name="adj" fmla="val 21408518"/>
            </a:avLst>
          </a:prstGeom>
          <a:solidFill>
            <a:srgbClr val="1C9770"/>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41957" y="1291828"/>
            <a:ext cx="192167" cy="192167"/>
          </a:xfrm>
          <a:prstGeom prst="rect">
            <a:avLst/>
          </a:prstGeom>
        </p:spPr>
      </p:pic>
      <p:sp>
        <p:nvSpPr>
          <p:cNvPr id="16" name="Text 11"/>
          <p:cNvSpPr/>
          <p:nvPr/>
        </p:nvSpPr>
        <p:spPr>
          <a:xfrm>
            <a:off x="9824561" y="1743789"/>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Inverted Index</a:t>
            </a:r>
            <a:endParaRPr lang="en-US" sz="1400" dirty="0"/>
          </a:p>
        </p:txBody>
      </p:sp>
      <p:sp>
        <p:nvSpPr>
          <p:cNvPr id="17" name="Text 12"/>
          <p:cNvSpPr/>
          <p:nvPr/>
        </p:nvSpPr>
        <p:spPr>
          <a:xfrm>
            <a:off x="9824561" y="2051566"/>
            <a:ext cx="4165282" cy="1138833"/>
          </a:xfrm>
          <a:prstGeom prst="rect">
            <a:avLst/>
          </a:prstGeom>
          <a:noFill/>
          <a:ln/>
        </p:spPr>
        <p:txBody>
          <a:bodyPr wrap="squar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Elasticsearch, birbaşa mətn üzərində yox, bu cür “invert edilmiş indeks” üzərində işləyir. Bu, klassik axtarış motorlarında istifadə olunan üsuldur: hər bir sözün hansı sənəddə göründüyü məlumatı saxlayır və bu sayədə sorğu zamanı sürətli nəticə verir.</a:t>
            </a:r>
            <a:endParaRPr lang="en-US" sz="1100" dirty="0"/>
          </a:p>
        </p:txBody>
      </p:sp>
      <p:sp>
        <p:nvSpPr>
          <p:cNvPr id="18" name="Text 13"/>
          <p:cNvSpPr/>
          <p:nvPr/>
        </p:nvSpPr>
        <p:spPr>
          <a:xfrm>
            <a:off x="498277" y="3773924"/>
            <a:ext cx="3915251" cy="355997"/>
          </a:xfrm>
          <a:prstGeom prst="rect">
            <a:avLst/>
          </a:prstGeom>
          <a:noFill/>
          <a:ln/>
        </p:spPr>
        <p:txBody>
          <a:bodyPr wrap="none" lIns="0" tIns="0" rIns="0" bIns="0" rtlCol="0" anchor="t"/>
          <a:lstStyle/>
          <a:p>
            <a:pPr algn="l" indent="0" marL="0">
              <a:lnSpc>
                <a:spcPts val="2800"/>
              </a:lnSpc>
              <a:buNone/>
            </a:pPr>
            <a:r>
              <a:rPr lang="en-US" sz="2200" dirty="0">
                <a:solidFill>
                  <a:srgbClr val="030303"/>
                </a:solidFill>
                <a:latin typeface="DM Sans Semi Bold" pitchFamily="34" charset="0"/>
                <a:ea typeface="DM Sans Semi Bold" pitchFamily="34" charset="-122"/>
                <a:cs typeface="DM Sans Semi Bold" pitchFamily="34" charset="-120"/>
              </a:rPr>
              <a:t>2.2 Arxa-plan komponentləri</a:t>
            </a:r>
            <a:endParaRPr lang="en-US" sz="2200" dirty="0"/>
          </a:p>
        </p:txBody>
      </p:sp>
      <p:sp>
        <p:nvSpPr>
          <p:cNvPr id="19" name="Shape 14"/>
          <p:cNvSpPr/>
          <p:nvPr/>
        </p:nvSpPr>
        <p:spPr>
          <a:xfrm>
            <a:off x="498277" y="4556879"/>
            <a:ext cx="4449723" cy="3283744"/>
          </a:xfrm>
          <a:prstGeom prst="roundRect">
            <a:avLst>
              <a:gd name="adj" fmla="val 2228"/>
            </a:avLst>
          </a:prstGeom>
          <a:solidFill>
            <a:srgbClr val="FFFFFF"/>
          </a:solidFill>
          <a:ln/>
        </p:spPr>
      </p:sp>
      <p:sp>
        <p:nvSpPr>
          <p:cNvPr id="20" name="Shape 15"/>
          <p:cNvSpPr/>
          <p:nvPr/>
        </p:nvSpPr>
        <p:spPr>
          <a:xfrm>
            <a:off x="498277" y="4541639"/>
            <a:ext cx="4449723" cy="60960"/>
          </a:xfrm>
          <a:prstGeom prst="roundRect">
            <a:avLst>
              <a:gd name="adj" fmla="val 35036"/>
            </a:avLst>
          </a:prstGeom>
          <a:solidFill>
            <a:srgbClr val="1C9770"/>
          </a:solidFill>
          <a:ln/>
        </p:spPr>
      </p:sp>
      <p:sp>
        <p:nvSpPr>
          <p:cNvPr id="21" name="Shape 16"/>
          <p:cNvSpPr/>
          <p:nvPr/>
        </p:nvSpPr>
        <p:spPr>
          <a:xfrm>
            <a:off x="2509540" y="4343400"/>
            <a:ext cx="427077" cy="427077"/>
          </a:xfrm>
          <a:prstGeom prst="roundRect">
            <a:avLst>
              <a:gd name="adj" fmla="val 214107"/>
            </a:avLst>
          </a:prstGeom>
          <a:solidFill>
            <a:srgbClr val="1C9770"/>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37651" y="4471511"/>
            <a:ext cx="170855" cy="170855"/>
          </a:xfrm>
          <a:prstGeom prst="rect">
            <a:avLst/>
          </a:prstGeom>
        </p:spPr>
      </p:pic>
      <p:sp>
        <p:nvSpPr>
          <p:cNvPr id="23" name="Text 17"/>
          <p:cNvSpPr/>
          <p:nvPr/>
        </p:nvSpPr>
        <p:spPr>
          <a:xfrm>
            <a:off x="655796" y="4912757"/>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Cluster</a:t>
            </a:r>
            <a:endParaRPr lang="en-US" sz="1400" dirty="0"/>
          </a:p>
        </p:txBody>
      </p:sp>
      <p:sp>
        <p:nvSpPr>
          <p:cNvPr id="24" name="Text 18"/>
          <p:cNvSpPr/>
          <p:nvPr/>
        </p:nvSpPr>
        <p:spPr>
          <a:xfrm>
            <a:off x="655796" y="5220533"/>
            <a:ext cx="4134683" cy="911066"/>
          </a:xfrm>
          <a:prstGeom prst="rect">
            <a:avLst/>
          </a:prstGeom>
          <a:noFill/>
          <a:ln/>
        </p:spPr>
        <p:txBody>
          <a:bodyPr wrap="squar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Bir-birinə bağlı birdən çox node-dan (server instansiyasından) ibarət struktur. Elasticsearch cluster-ının gücü, sorğu və indeks əməliyyatlarını node-lara paylayaraq yüksək performans və etibarlılıq təmin etməsində yatır.</a:t>
            </a:r>
            <a:endParaRPr lang="en-US" sz="1100" dirty="0"/>
          </a:p>
        </p:txBody>
      </p:sp>
      <p:sp>
        <p:nvSpPr>
          <p:cNvPr id="25" name="Shape 19"/>
          <p:cNvSpPr/>
          <p:nvPr/>
        </p:nvSpPr>
        <p:spPr>
          <a:xfrm>
            <a:off x="5090279" y="4556879"/>
            <a:ext cx="4449723" cy="3283744"/>
          </a:xfrm>
          <a:prstGeom prst="roundRect">
            <a:avLst>
              <a:gd name="adj" fmla="val 2228"/>
            </a:avLst>
          </a:prstGeom>
          <a:solidFill>
            <a:srgbClr val="FFFFFF"/>
          </a:solidFill>
          <a:ln/>
        </p:spPr>
      </p:sp>
      <p:sp>
        <p:nvSpPr>
          <p:cNvPr id="26" name="Shape 20"/>
          <p:cNvSpPr/>
          <p:nvPr/>
        </p:nvSpPr>
        <p:spPr>
          <a:xfrm>
            <a:off x="5090279" y="4541639"/>
            <a:ext cx="4449723" cy="60960"/>
          </a:xfrm>
          <a:prstGeom prst="roundRect">
            <a:avLst>
              <a:gd name="adj" fmla="val 35036"/>
            </a:avLst>
          </a:prstGeom>
          <a:solidFill>
            <a:srgbClr val="1C9770"/>
          </a:solidFill>
          <a:ln/>
        </p:spPr>
      </p:sp>
      <p:sp>
        <p:nvSpPr>
          <p:cNvPr id="27" name="Shape 21"/>
          <p:cNvSpPr/>
          <p:nvPr/>
        </p:nvSpPr>
        <p:spPr>
          <a:xfrm>
            <a:off x="7101542" y="4343400"/>
            <a:ext cx="427077" cy="427077"/>
          </a:xfrm>
          <a:prstGeom prst="roundRect">
            <a:avLst>
              <a:gd name="adj" fmla="val 214107"/>
            </a:avLst>
          </a:prstGeom>
          <a:solidFill>
            <a:srgbClr val="1C9770"/>
          </a:solidFill>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29654" y="4471511"/>
            <a:ext cx="170855" cy="170855"/>
          </a:xfrm>
          <a:prstGeom prst="rect">
            <a:avLst/>
          </a:prstGeom>
        </p:spPr>
      </p:pic>
      <p:sp>
        <p:nvSpPr>
          <p:cNvPr id="29" name="Text 22"/>
          <p:cNvSpPr/>
          <p:nvPr/>
        </p:nvSpPr>
        <p:spPr>
          <a:xfrm>
            <a:off x="5247799" y="4912757"/>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Node</a:t>
            </a:r>
            <a:endParaRPr lang="en-US" sz="1400" dirty="0"/>
          </a:p>
        </p:txBody>
      </p:sp>
      <p:sp>
        <p:nvSpPr>
          <p:cNvPr id="30" name="Text 23"/>
          <p:cNvSpPr/>
          <p:nvPr/>
        </p:nvSpPr>
        <p:spPr>
          <a:xfrm>
            <a:off x="5247799" y="5220533"/>
            <a:ext cx="4134683" cy="227767"/>
          </a:xfrm>
          <a:prstGeom prst="rect">
            <a:avLst/>
          </a:prstGeom>
          <a:noFill/>
          <a:ln/>
        </p:spPr>
        <p:txBody>
          <a:bodyPr wrap="non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Cluster-ın bir hissəsi olan tək serverdir. Fərqli rolları ola bilər:</a:t>
            </a:r>
            <a:endParaRPr lang="en-US" sz="1100" dirty="0"/>
          </a:p>
        </p:txBody>
      </p:sp>
      <p:sp>
        <p:nvSpPr>
          <p:cNvPr id="31" name="Text 24"/>
          <p:cNvSpPr/>
          <p:nvPr/>
        </p:nvSpPr>
        <p:spPr>
          <a:xfrm>
            <a:off x="5247799" y="5533668"/>
            <a:ext cx="4134683" cy="455533"/>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1C9770"/>
                </a:solidFill>
                <a:latin typeface="Inter Medium" pitchFamily="34" charset="0"/>
                <a:ea typeface="Inter Medium" pitchFamily="34" charset="-122"/>
                <a:cs typeface="Inter Medium" pitchFamily="34" charset="-120"/>
              </a:rPr>
              <a:t>Master node</a:t>
            </a:r>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 — cluster-ı idarə edir; index yaratma/silmə və node əlavə/kaldırma kimi əməliyyatlar buradan aparılır.</a:t>
            </a:r>
            <a:endParaRPr lang="en-US" sz="1100" dirty="0"/>
          </a:p>
        </p:txBody>
      </p:sp>
      <p:sp>
        <p:nvSpPr>
          <p:cNvPr id="32" name="Text 25"/>
          <p:cNvSpPr/>
          <p:nvPr/>
        </p:nvSpPr>
        <p:spPr>
          <a:xfrm>
            <a:off x="5247799" y="6038969"/>
            <a:ext cx="4134683" cy="455533"/>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1C9770"/>
                </a:solidFill>
                <a:latin typeface="Inter Medium" pitchFamily="34" charset="0"/>
                <a:ea typeface="Inter Medium" pitchFamily="34" charset="-122"/>
                <a:cs typeface="Inter Medium" pitchFamily="34" charset="-120"/>
              </a:rPr>
              <a:t>Data node</a:t>
            </a:r>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 — məlumatları saxlayır, axtarış və toplama əməliyyatlarını icra edir.</a:t>
            </a:r>
            <a:endParaRPr lang="en-US" sz="1100" dirty="0"/>
          </a:p>
        </p:txBody>
      </p:sp>
      <p:sp>
        <p:nvSpPr>
          <p:cNvPr id="33" name="Text 26"/>
          <p:cNvSpPr/>
          <p:nvPr/>
        </p:nvSpPr>
        <p:spPr>
          <a:xfrm>
            <a:off x="5247799" y="6544270"/>
            <a:ext cx="4134683" cy="455533"/>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1C9770"/>
                </a:solidFill>
                <a:latin typeface="Inter Medium" pitchFamily="34" charset="0"/>
                <a:ea typeface="Inter Medium" pitchFamily="34" charset="-122"/>
                <a:cs typeface="Inter Medium" pitchFamily="34" charset="-120"/>
              </a:rPr>
              <a:t>Client node</a:t>
            </a:r>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 (bizim müraciət node) — istifadəçi sorğularını master və ya data node-lara yönləndirir.</a:t>
            </a:r>
            <a:endParaRPr lang="en-US" sz="1100" dirty="0"/>
          </a:p>
        </p:txBody>
      </p:sp>
      <p:sp>
        <p:nvSpPr>
          <p:cNvPr id="34" name="Shape 27"/>
          <p:cNvSpPr/>
          <p:nvPr/>
        </p:nvSpPr>
        <p:spPr>
          <a:xfrm>
            <a:off x="9682282" y="4556879"/>
            <a:ext cx="4449842" cy="3283744"/>
          </a:xfrm>
          <a:prstGeom prst="roundRect">
            <a:avLst>
              <a:gd name="adj" fmla="val 2228"/>
            </a:avLst>
          </a:prstGeom>
          <a:solidFill>
            <a:srgbClr val="FFFFFF"/>
          </a:solidFill>
          <a:ln/>
        </p:spPr>
      </p:sp>
      <p:sp>
        <p:nvSpPr>
          <p:cNvPr id="35" name="Shape 28"/>
          <p:cNvSpPr/>
          <p:nvPr/>
        </p:nvSpPr>
        <p:spPr>
          <a:xfrm>
            <a:off x="9682282" y="4541639"/>
            <a:ext cx="4449842" cy="60960"/>
          </a:xfrm>
          <a:prstGeom prst="roundRect">
            <a:avLst>
              <a:gd name="adj" fmla="val 35036"/>
            </a:avLst>
          </a:prstGeom>
          <a:solidFill>
            <a:srgbClr val="1C9770"/>
          </a:solidFill>
          <a:ln/>
        </p:spPr>
      </p:sp>
      <p:sp>
        <p:nvSpPr>
          <p:cNvPr id="36" name="Shape 29"/>
          <p:cNvSpPr/>
          <p:nvPr/>
        </p:nvSpPr>
        <p:spPr>
          <a:xfrm>
            <a:off x="11693664" y="4343400"/>
            <a:ext cx="427077" cy="427077"/>
          </a:xfrm>
          <a:prstGeom prst="roundRect">
            <a:avLst>
              <a:gd name="adj" fmla="val 214107"/>
            </a:avLst>
          </a:prstGeom>
          <a:solidFill>
            <a:srgbClr val="1C9770"/>
          </a:solidFill>
          <a:ln/>
        </p:spPr>
      </p:sp>
      <p:pic>
        <p:nvPicPr>
          <p:cNvPr id="3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821775" y="4471511"/>
            <a:ext cx="170855" cy="170855"/>
          </a:xfrm>
          <a:prstGeom prst="rect">
            <a:avLst/>
          </a:prstGeom>
        </p:spPr>
      </p:pic>
      <p:sp>
        <p:nvSpPr>
          <p:cNvPr id="38" name="Text 30"/>
          <p:cNvSpPr/>
          <p:nvPr/>
        </p:nvSpPr>
        <p:spPr>
          <a:xfrm>
            <a:off x="9839801" y="4912757"/>
            <a:ext cx="1779746" cy="222409"/>
          </a:xfrm>
          <a:prstGeom prst="rect">
            <a:avLst/>
          </a:prstGeom>
          <a:noFill/>
          <a:ln/>
        </p:spPr>
        <p:txBody>
          <a:bodyPr wrap="none" lIns="0" tIns="0" rIns="0" bIns="0" rtlCol="0" anchor="t"/>
          <a:lstStyle/>
          <a:p>
            <a:pPr algn="l" indent="0" marL="0">
              <a:lnSpc>
                <a:spcPts val="1750"/>
              </a:lnSpc>
              <a:buNone/>
            </a:pPr>
            <a:r>
              <a:rPr lang="en-US" sz="1400" dirty="0">
                <a:solidFill>
                  <a:srgbClr val="464646"/>
                </a:solidFill>
                <a:latin typeface="DM Sans Semi Bold" pitchFamily="34" charset="0"/>
                <a:ea typeface="DM Sans Semi Bold" pitchFamily="34" charset="-122"/>
                <a:cs typeface="DM Sans Semi Bold" pitchFamily="34" charset="-120"/>
              </a:rPr>
              <a:t>Shards</a:t>
            </a:r>
            <a:endParaRPr lang="en-US" sz="1400" dirty="0"/>
          </a:p>
        </p:txBody>
      </p:sp>
      <p:sp>
        <p:nvSpPr>
          <p:cNvPr id="39" name="Text 31"/>
          <p:cNvSpPr/>
          <p:nvPr/>
        </p:nvSpPr>
        <p:spPr>
          <a:xfrm>
            <a:off x="9839801" y="5220533"/>
            <a:ext cx="4134802" cy="683300"/>
          </a:xfrm>
          <a:prstGeom prst="rect">
            <a:avLst/>
          </a:prstGeom>
          <a:noFill/>
          <a:ln/>
        </p:spPr>
        <p:txBody>
          <a:bodyPr wrap="square" lIns="0" tIns="0" rIns="0" bIns="0" rtlCol="0" anchor="t"/>
          <a:lstStyle/>
          <a:p>
            <a:pPr algn="l" indent="0" marL="0">
              <a:lnSpc>
                <a:spcPts val="1750"/>
              </a:lnSpc>
              <a:buNone/>
            </a:pPr>
            <a:r>
              <a:rPr lang="en-US" sz="1100" dirty="0">
                <a:solidFill>
                  <a:srgbClr val="464646"/>
                </a:solidFill>
                <a:latin typeface="Inter Medium" pitchFamily="34" charset="0"/>
                <a:ea typeface="Inter Medium" pitchFamily="34" charset="-122"/>
                <a:cs typeface="Inter Medium" pitchFamily="34" charset="-120"/>
              </a:rPr>
              <a:t>Elasticsearch indexlərini kiçik hissələrə (shardlara) bölə bilir. Hər shard, cluster içində ayrı-ayrı node-larda yerləşdirilə bilən müstəqil bir index kimidir. Bu yanaşma:</a:t>
            </a:r>
            <a:endParaRPr lang="en-US" sz="1100" dirty="0"/>
          </a:p>
        </p:txBody>
      </p:sp>
      <p:sp>
        <p:nvSpPr>
          <p:cNvPr id="40" name="Text 32"/>
          <p:cNvSpPr/>
          <p:nvPr/>
        </p:nvSpPr>
        <p:spPr>
          <a:xfrm>
            <a:off x="9839801" y="5989201"/>
            <a:ext cx="4134802" cy="455533"/>
          </a:xfrm>
          <a:prstGeom prst="rect">
            <a:avLst/>
          </a:prstGeom>
          <a:noFill/>
          <a:ln/>
        </p:spPr>
        <p:txBody>
          <a:bodyPr wrap="square" lIns="0" tIns="0" rIns="0" bIns="0" rtlCol="0" anchor="t"/>
          <a:lstStyle/>
          <a:p>
            <a:pPr algn="l" marL="342900" indent="-342900">
              <a:lnSpc>
                <a:spcPts val="1750"/>
              </a:lnSpc>
              <a:buSzPct val="100000"/>
              <a:buFont typeface="+mj-lt"/>
              <a:buAutoNum type="arabicPeriod" startAt="1"/>
            </a:pPr>
            <a:r>
              <a:rPr lang="en-US" sz="1100" dirty="0">
                <a:solidFill>
                  <a:srgbClr val="464646"/>
                </a:solidFill>
                <a:latin typeface="Inter Medium" pitchFamily="34" charset="0"/>
                <a:ea typeface="Inter Medium" pitchFamily="34" charset="-122"/>
                <a:cs typeface="Inter Medium" pitchFamily="34" charset="-120"/>
              </a:rPr>
              <a:t>Böyük məlumat kütlələrini fərqli maşınlara bölərək saxlama və genişləmə imkanı verir (scalability).</a:t>
            </a:r>
            <a:endParaRPr lang="en-US" sz="1100" dirty="0"/>
          </a:p>
        </p:txBody>
      </p:sp>
      <p:sp>
        <p:nvSpPr>
          <p:cNvPr id="41" name="Text 33"/>
          <p:cNvSpPr/>
          <p:nvPr/>
        </p:nvSpPr>
        <p:spPr>
          <a:xfrm>
            <a:off x="9839801" y="6494502"/>
            <a:ext cx="4134802" cy="455533"/>
          </a:xfrm>
          <a:prstGeom prst="rect">
            <a:avLst/>
          </a:prstGeom>
          <a:noFill/>
          <a:ln/>
        </p:spPr>
        <p:txBody>
          <a:bodyPr wrap="square" lIns="0" tIns="0" rIns="0" bIns="0" rtlCol="0" anchor="t"/>
          <a:lstStyle/>
          <a:p>
            <a:pPr algn="l" marL="342900" indent="-342900">
              <a:lnSpc>
                <a:spcPts val="1750"/>
              </a:lnSpc>
              <a:buSzPct val="100000"/>
              <a:buFont typeface="+mj-lt"/>
              <a:buAutoNum type="arabicPeriod" startAt="2"/>
            </a:pPr>
            <a:r>
              <a:rPr lang="en-US" sz="1100" dirty="0">
                <a:solidFill>
                  <a:srgbClr val="464646"/>
                </a:solidFill>
                <a:latin typeface="Inter Medium" pitchFamily="34" charset="0"/>
                <a:ea typeface="Inter Medium" pitchFamily="34" charset="-122"/>
                <a:cs typeface="Inter Medium" pitchFamily="34" charset="-120"/>
              </a:rPr>
              <a:t>Sorğuları paralel icra etməyə imkan verir — bu da axtarış sürətini artırır (optimization).</a:t>
            </a:r>
            <a:endParaRPr lang="en-US" sz="1100" dirty="0"/>
          </a:p>
        </p:txBody>
      </p:sp>
      <p:sp>
        <p:nvSpPr>
          <p:cNvPr id="42" name="Text 34"/>
          <p:cNvSpPr/>
          <p:nvPr/>
        </p:nvSpPr>
        <p:spPr>
          <a:xfrm>
            <a:off x="9839801" y="6999803"/>
            <a:ext cx="4134802" cy="683300"/>
          </a:xfrm>
          <a:prstGeom prst="rect">
            <a:avLst/>
          </a:prstGeom>
          <a:noFill/>
          <a:ln/>
        </p:spPr>
        <p:txBody>
          <a:bodyPr wrap="square" lIns="0" tIns="0" rIns="0" bIns="0" rtlCol="0" anchor="t"/>
          <a:lstStyle/>
          <a:p>
            <a:pPr algn="l" marL="342900" indent="-342900">
              <a:lnSpc>
                <a:spcPts val="1750"/>
              </a:lnSpc>
              <a:buSzPct val="100000"/>
              <a:buFont typeface="+mj-lt"/>
              <a:buAutoNum type="arabicPeriod" startAt="3"/>
            </a:pPr>
            <a:r>
              <a:rPr lang="en-US" sz="1100" dirty="0">
                <a:solidFill>
                  <a:srgbClr val="464646"/>
                </a:solidFill>
                <a:latin typeface="Inter Medium" pitchFamily="34" charset="0"/>
                <a:ea typeface="Inter Medium" pitchFamily="34" charset="-122"/>
                <a:cs typeface="Inter Medium" pitchFamily="34" charset="-120"/>
              </a:rPr>
              <a:t>Replica shardlar vasitəsilə redundans və etibarlılığı təmin edir — bir shard və ya node sıradan çıxdığında belə məlumatlar qorunur.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1851" y="541139"/>
            <a:ext cx="6849666" cy="465892"/>
          </a:xfrm>
          <a:prstGeom prst="rect">
            <a:avLst/>
          </a:prstGeom>
          <a:noFill/>
          <a:ln/>
        </p:spPr>
        <p:txBody>
          <a:bodyPr wrap="none" lIns="0" tIns="0" rIns="0" bIns="0" rtlCol="0" anchor="t"/>
          <a:lstStyle/>
          <a:p>
            <a:pPr algn="l" indent="0" marL="0">
              <a:lnSpc>
                <a:spcPts val="3650"/>
              </a:lnSpc>
              <a:buNone/>
            </a:pPr>
            <a:r>
              <a:rPr lang="en-US" sz="2900" dirty="0">
                <a:solidFill>
                  <a:srgbClr val="030303"/>
                </a:solidFill>
                <a:latin typeface="DM Sans Semi Bold" pitchFamily="34" charset="0"/>
                <a:ea typeface="DM Sans Semi Bold" pitchFamily="34" charset="-122"/>
                <a:cs typeface="DM Sans Semi Bold" pitchFamily="34" charset="-120"/>
              </a:rPr>
              <a:t>1. Elastik Stack-in digər komponentləri</a:t>
            </a:r>
            <a:endParaRPr lang="en-US" sz="2900" dirty="0"/>
          </a:p>
        </p:txBody>
      </p:sp>
      <p:pic>
        <p:nvPicPr>
          <p:cNvPr id="3" name="Image 0" descr="preencoded.png">    </p:cNvPr>
          <p:cNvPicPr>
            <a:picLocks noChangeAspect="1"/>
          </p:cNvPicPr>
          <p:nvPr/>
        </p:nvPicPr>
        <p:blipFill>
          <a:blip r:embed="rId1"/>
          <a:stretch>
            <a:fillRect/>
          </a:stretch>
        </p:blipFill>
        <p:spPr>
          <a:xfrm>
            <a:off x="521851" y="1305163"/>
            <a:ext cx="4528899" cy="596384"/>
          </a:xfrm>
          <a:prstGeom prst="rect">
            <a:avLst/>
          </a:prstGeom>
        </p:spPr>
      </p:pic>
      <p:sp>
        <p:nvSpPr>
          <p:cNvPr id="4" name="Text 1"/>
          <p:cNvSpPr/>
          <p:nvPr/>
        </p:nvSpPr>
        <p:spPr>
          <a:xfrm>
            <a:off x="670917" y="2050613"/>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Kibana</a:t>
            </a:r>
            <a:endParaRPr lang="en-US" sz="1450" dirty="0"/>
          </a:p>
        </p:txBody>
      </p:sp>
      <p:sp>
        <p:nvSpPr>
          <p:cNvPr id="5" name="Text 2"/>
          <p:cNvSpPr/>
          <p:nvPr/>
        </p:nvSpPr>
        <p:spPr>
          <a:xfrm>
            <a:off x="670917" y="2372916"/>
            <a:ext cx="4230767" cy="953929"/>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Elasticsearch-dəki məlumatları vizuallaşdırmaq, analitik qrafiklər, histogramlar, xəritələr və s. göstərmək üçün istifadə edilən interfeysdir. Dashboardlar quraraq real vaxt monitorinqi və analiz etmək mümkündür.</a:t>
            </a:r>
            <a:endParaRPr lang="en-US" sz="1150" dirty="0"/>
          </a:p>
        </p:txBody>
      </p:sp>
      <p:pic>
        <p:nvPicPr>
          <p:cNvPr id="6" name="Image 1" descr="preencoded.png">    </p:cNvPr>
          <p:cNvPicPr>
            <a:picLocks noChangeAspect="1"/>
          </p:cNvPicPr>
          <p:nvPr/>
        </p:nvPicPr>
        <p:blipFill>
          <a:blip r:embed="rId2"/>
          <a:stretch>
            <a:fillRect/>
          </a:stretch>
        </p:blipFill>
        <p:spPr>
          <a:xfrm>
            <a:off x="5050750" y="1305163"/>
            <a:ext cx="4528899" cy="596384"/>
          </a:xfrm>
          <a:prstGeom prst="rect">
            <a:avLst/>
          </a:prstGeom>
        </p:spPr>
      </p:pic>
      <p:sp>
        <p:nvSpPr>
          <p:cNvPr id="7" name="Text 3"/>
          <p:cNvSpPr/>
          <p:nvPr/>
        </p:nvSpPr>
        <p:spPr>
          <a:xfrm>
            <a:off x="5199817" y="2050613"/>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Logstash</a:t>
            </a:r>
            <a:endParaRPr lang="en-US" sz="1450" dirty="0"/>
          </a:p>
        </p:txBody>
      </p:sp>
      <p:sp>
        <p:nvSpPr>
          <p:cNvPr id="8" name="Text 4"/>
          <p:cNvSpPr/>
          <p:nvPr/>
        </p:nvSpPr>
        <p:spPr>
          <a:xfrm>
            <a:off x="5199817" y="2372916"/>
            <a:ext cx="4230767" cy="953929"/>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Müxtəlif məlumat mənbələrindən (server logları, databazalar, xarici xidmətlər və s.) məlumat toplamaq, onu emal etmək və sonra Elasticsearch-ə göndərmək üçün istifadə edilən server tərəfli data pipeline alətidir.</a:t>
            </a:r>
            <a:endParaRPr lang="en-US" sz="1150" dirty="0"/>
          </a:p>
        </p:txBody>
      </p:sp>
      <p:pic>
        <p:nvPicPr>
          <p:cNvPr id="9" name="Image 2" descr="preencoded.png">    </p:cNvPr>
          <p:cNvPicPr>
            <a:picLocks noChangeAspect="1"/>
          </p:cNvPicPr>
          <p:nvPr/>
        </p:nvPicPr>
        <p:blipFill>
          <a:blip r:embed="rId3"/>
          <a:stretch>
            <a:fillRect/>
          </a:stretch>
        </p:blipFill>
        <p:spPr>
          <a:xfrm>
            <a:off x="9579650" y="1305163"/>
            <a:ext cx="4528899" cy="596384"/>
          </a:xfrm>
          <a:prstGeom prst="rect">
            <a:avLst/>
          </a:prstGeom>
        </p:spPr>
      </p:pic>
      <p:sp>
        <p:nvSpPr>
          <p:cNvPr id="10" name="Text 5"/>
          <p:cNvSpPr/>
          <p:nvPr/>
        </p:nvSpPr>
        <p:spPr>
          <a:xfrm>
            <a:off x="9728716" y="2050613"/>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Beats</a:t>
            </a:r>
            <a:endParaRPr lang="en-US" sz="1450" dirty="0"/>
          </a:p>
        </p:txBody>
      </p:sp>
      <p:sp>
        <p:nvSpPr>
          <p:cNvPr id="11" name="Text 6"/>
          <p:cNvSpPr/>
          <p:nvPr/>
        </p:nvSpPr>
        <p:spPr>
          <a:xfrm>
            <a:off x="9728716" y="2372916"/>
            <a:ext cx="4230767" cy="953929"/>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Yüngül, xüsusi məqsədli data shipper-lər toplusudur. Məsələn, server loglarını, metriki və ya hadisə axınlarını real vaxtda izləyib Elasticsearch və ya Logstash-ə ötürmək üçün istifadə olunur.</a:t>
            </a:r>
            <a:endParaRPr lang="en-US" sz="1150" dirty="0"/>
          </a:p>
        </p:txBody>
      </p:sp>
      <p:sp>
        <p:nvSpPr>
          <p:cNvPr id="12" name="Text 7"/>
          <p:cNvSpPr/>
          <p:nvPr/>
        </p:nvSpPr>
        <p:spPr>
          <a:xfrm>
            <a:off x="521851" y="3699510"/>
            <a:ext cx="3727609" cy="465892"/>
          </a:xfrm>
          <a:prstGeom prst="rect">
            <a:avLst/>
          </a:prstGeom>
          <a:noFill/>
          <a:ln/>
        </p:spPr>
        <p:txBody>
          <a:bodyPr wrap="none" lIns="0" tIns="0" rIns="0" bIns="0" rtlCol="0" anchor="t"/>
          <a:lstStyle/>
          <a:p>
            <a:pPr algn="l" indent="0" marL="0">
              <a:lnSpc>
                <a:spcPts val="3650"/>
              </a:lnSpc>
              <a:buNone/>
            </a:pPr>
            <a:r>
              <a:rPr lang="en-US" sz="2900" dirty="0">
                <a:solidFill>
                  <a:srgbClr val="030303"/>
                </a:solidFill>
                <a:latin typeface="DM Sans Semi Bold" pitchFamily="34" charset="0"/>
                <a:ea typeface="DM Sans Semi Bold" pitchFamily="34" charset="-122"/>
                <a:cs typeface="DM Sans Semi Bold" pitchFamily="34" charset="-120"/>
              </a:rPr>
              <a:t>2. İstifadə sahələri</a:t>
            </a:r>
            <a:endParaRPr lang="en-US" sz="2900" dirty="0"/>
          </a:p>
        </p:txBody>
      </p:sp>
      <p:sp>
        <p:nvSpPr>
          <p:cNvPr id="13" name="Shape 8"/>
          <p:cNvSpPr/>
          <p:nvPr/>
        </p:nvSpPr>
        <p:spPr>
          <a:xfrm>
            <a:off x="521851" y="4389001"/>
            <a:ext cx="6718816" cy="1575197"/>
          </a:xfrm>
          <a:prstGeom prst="roundRect">
            <a:avLst>
              <a:gd name="adj" fmla="val 1420"/>
            </a:avLst>
          </a:prstGeom>
          <a:solidFill>
            <a:srgbClr val="FFFFFF"/>
          </a:solidFill>
          <a:ln w="15240">
            <a:solidFill>
              <a:srgbClr val="D8D4D4"/>
            </a:solidFill>
            <a:prstDash val="solid"/>
          </a:ln>
        </p:spPr>
      </p:sp>
      <p:sp>
        <p:nvSpPr>
          <p:cNvPr id="14" name="Shape 9"/>
          <p:cNvSpPr/>
          <p:nvPr/>
        </p:nvSpPr>
        <p:spPr>
          <a:xfrm>
            <a:off x="537091" y="4404241"/>
            <a:ext cx="6688336" cy="447318"/>
          </a:xfrm>
          <a:prstGeom prst="roundRect">
            <a:avLst>
              <a:gd name="adj" fmla="val 912"/>
            </a:avLst>
          </a:prstGeom>
          <a:solidFill>
            <a:srgbClr val="F2EEEE"/>
          </a:solidFill>
          <a:ln/>
        </p:spPr>
      </p:sp>
      <p:pic>
        <p:nvPicPr>
          <p:cNvPr id="15" name="Image 3"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69400" y="4516041"/>
            <a:ext cx="223599" cy="223599"/>
          </a:xfrm>
          <a:prstGeom prst="rect">
            <a:avLst/>
          </a:prstGeom>
        </p:spPr>
      </p:pic>
      <p:sp>
        <p:nvSpPr>
          <p:cNvPr id="16" name="Text 10"/>
          <p:cNvSpPr/>
          <p:nvPr/>
        </p:nvSpPr>
        <p:spPr>
          <a:xfrm>
            <a:off x="686157" y="5000625"/>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Loglama</a:t>
            </a:r>
            <a:endParaRPr lang="en-US" sz="1450" dirty="0"/>
          </a:p>
        </p:txBody>
      </p:sp>
      <p:sp>
        <p:nvSpPr>
          <p:cNvPr id="17" name="Text 11"/>
          <p:cNvSpPr/>
          <p:nvPr/>
        </p:nvSpPr>
        <p:spPr>
          <a:xfrm>
            <a:off x="686157" y="5322927"/>
            <a:ext cx="6390203" cy="476964"/>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Məsələn, onlayn oyunda istifadəçi bağlantılarının statistikasını, səhvləri və digər hadisələri toplayıb təhlil etmək üçün.</a:t>
            </a:r>
            <a:endParaRPr lang="en-US" sz="1150" dirty="0"/>
          </a:p>
        </p:txBody>
      </p:sp>
      <p:sp>
        <p:nvSpPr>
          <p:cNvPr id="18" name="Shape 12"/>
          <p:cNvSpPr/>
          <p:nvPr/>
        </p:nvSpPr>
        <p:spPr>
          <a:xfrm>
            <a:off x="7389733" y="4389001"/>
            <a:ext cx="6718816" cy="1575197"/>
          </a:xfrm>
          <a:prstGeom prst="roundRect">
            <a:avLst>
              <a:gd name="adj" fmla="val 1420"/>
            </a:avLst>
          </a:prstGeom>
          <a:solidFill>
            <a:srgbClr val="FFFFFF"/>
          </a:solidFill>
          <a:ln w="15240">
            <a:solidFill>
              <a:srgbClr val="D8D4D4"/>
            </a:solidFill>
            <a:prstDash val="solid"/>
          </a:ln>
        </p:spPr>
      </p:sp>
      <p:sp>
        <p:nvSpPr>
          <p:cNvPr id="19" name="Shape 13"/>
          <p:cNvSpPr/>
          <p:nvPr/>
        </p:nvSpPr>
        <p:spPr>
          <a:xfrm>
            <a:off x="7404973" y="4404241"/>
            <a:ext cx="6688336" cy="447318"/>
          </a:xfrm>
          <a:prstGeom prst="roundRect">
            <a:avLst>
              <a:gd name="adj" fmla="val 912"/>
            </a:avLst>
          </a:prstGeom>
          <a:solidFill>
            <a:srgbClr val="F2EEEE"/>
          </a:solidFill>
          <a:ln/>
        </p:spPr>
      </p:sp>
      <p:pic>
        <p:nvPicPr>
          <p:cNvPr id="20"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37282" y="4516041"/>
            <a:ext cx="223599" cy="223599"/>
          </a:xfrm>
          <a:prstGeom prst="rect">
            <a:avLst/>
          </a:prstGeom>
        </p:spPr>
      </p:pic>
      <p:sp>
        <p:nvSpPr>
          <p:cNvPr id="21" name="Text 14"/>
          <p:cNvSpPr/>
          <p:nvPr/>
        </p:nvSpPr>
        <p:spPr>
          <a:xfrm>
            <a:off x="7554039" y="5000625"/>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Ölçüm &amp; Analiz</a:t>
            </a:r>
            <a:endParaRPr lang="en-US" sz="1450" dirty="0"/>
          </a:p>
        </p:txBody>
      </p:sp>
      <p:sp>
        <p:nvSpPr>
          <p:cNvPr id="22" name="Text 15"/>
          <p:cNvSpPr/>
          <p:nvPr/>
        </p:nvSpPr>
        <p:spPr>
          <a:xfrm>
            <a:off x="7554039" y="5322927"/>
            <a:ext cx="6390203" cy="476964"/>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Nümunə üçün, Marsa göndərilən robotun saatlıq temperatur, nəm və şəkil kimi məlumatlarını toplayıb analiz etmək.</a:t>
            </a:r>
            <a:endParaRPr lang="en-US" sz="1150" dirty="0"/>
          </a:p>
        </p:txBody>
      </p:sp>
      <p:sp>
        <p:nvSpPr>
          <p:cNvPr id="23" name="Shape 16"/>
          <p:cNvSpPr/>
          <p:nvPr/>
        </p:nvSpPr>
        <p:spPr>
          <a:xfrm>
            <a:off x="521851" y="6113264"/>
            <a:ext cx="6718816" cy="1575197"/>
          </a:xfrm>
          <a:prstGeom prst="roundRect">
            <a:avLst>
              <a:gd name="adj" fmla="val 1420"/>
            </a:avLst>
          </a:prstGeom>
          <a:solidFill>
            <a:srgbClr val="FFFFFF"/>
          </a:solidFill>
          <a:ln w="15240">
            <a:solidFill>
              <a:srgbClr val="D8D4D4"/>
            </a:solidFill>
            <a:prstDash val="solid"/>
          </a:ln>
        </p:spPr>
      </p:sp>
      <p:sp>
        <p:nvSpPr>
          <p:cNvPr id="24" name="Shape 17"/>
          <p:cNvSpPr/>
          <p:nvPr/>
        </p:nvSpPr>
        <p:spPr>
          <a:xfrm>
            <a:off x="537091" y="6128504"/>
            <a:ext cx="6688336" cy="447318"/>
          </a:xfrm>
          <a:prstGeom prst="roundRect">
            <a:avLst>
              <a:gd name="adj" fmla="val 912"/>
            </a:avLst>
          </a:prstGeom>
          <a:solidFill>
            <a:srgbClr val="F2EEEE"/>
          </a:solidFill>
          <a:ln/>
        </p:spPr>
      </p:sp>
      <p:pic>
        <p:nvPicPr>
          <p:cNvPr id="2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69400" y="6240304"/>
            <a:ext cx="223599" cy="223599"/>
          </a:xfrm>
          <a:prstGeom prst="rect">
            <a:avLst/>
          </a:prstGeom>
        </p:spPr>
      </p:pic>
      <p:sp>
        <p:nvSpPr>
          <p:cNvPr id="26" name="Text 18"/>
          <p:cNvSpPr/>
          <p:nvPr/>
        </p:nvSpPr>
        <p:spPr>
          <a:xfrm>
            <a:off x="686157" y="6724888"/>
            <a:ext cx="2088475"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Təhlükəsizlik Analitikası</a:t>
            </a:r>
            <a:endParaRPr lang="en-US" sz="1450" dirty="0"/>
          </a:p>
        </p:txBody>
      </p:sp>
      <p:sp>
        <p:nvSpPr>
          <p:cNvPr id="27" name="Text 19"/>
          <p:cNvSpPr/>
          <p:nvPr/>
        </p:nvSpPr>
        <p:spPr>
          <a:xfrm>
            <a:off x="686157" y="7047190"/>
            <a:ext cx="6390203" cy="238482"/>
          </a:xfrm>
          <a:prstGeom prst="rect">
            <a:avLst/>
          </a:prstGeom>
          <a:noFill/>
          <a:ln/>
        </p:spPr>
        <p:txBody>
          <a:bodyPr wrap="non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Məsələn, chat tətbiqində mesajların analizini, təhlükəli fəaliyyətin monitorinqini qurmaq.</a:t>
            </a:r>
            <a:endParaRPr lang="en-US" sz="1150" dirty="0"/>
          </a:p>
        </p:txBody>
      </p:sp>
      <p:sp>
        <p:nvSpPr>
          <p:cNvPr id="28" name="Shape 20"/>
          <p:cNvSpPr/>
          <p:nvPr/>
        </p:nvSpPr>
        <p:spPr>
          <a:xfrm>
            <a:off x="7389733" y="6113264"/>
            <a:ext cx="6718816" cy="1575197"/>
          </a:xfrm>
          <a:prstGeom prst="roundRect">
            <a:avLst>
              <a:gd name="adj" fmla="val 1420"/>
            </a:avLst>
          </a:prstGeom>
          <a:solidFill>
            <a:srgbClr val="FFFFFF"/>
          </a:solidFill>
          <a:ln w="15240">
            <a:solidFill>
              <a:srgbClr val="D8D4D4"/>
            </a:solidFill>
            <a:prstDash val="solid"/>
          </a:ln>
        </p:spPr>
      </p:sp>
      <p:sp>
        <p:nvSpPr>
          <p:cNvPr id="29" name="Shape 21"/>
          <p:cNvSpPr/>
          <p:nvPr/>
        </p:nvSpPr>
        <p:spPr>
          <a:xfrm>
            <a:off x="7404973" y="6128504"/>
            <a:ext cx="6688336" cy="447318"/>
          </a:xfrm>
          <a:prstGeom prst="roundRect">
            <a:avLst>
              <a:gd name="adj" fmla="val 912"/>
            </a:avLst>
          </a:prstGeom>
          <a:solidFill>
            <a:srgbClr val="F2EEEE"/>
          </a:solidFill>
          <a:ln/>
        </p:spPr>
      </p:sp>
      <p:pic>
        <p:nvPicPr>
          <p:cNvPr id="30" name="Image 6"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637282" y="6240304"/>
            <a:ext cx="223599" cy="223599"/>
          </a:xfrm>
          <a:prstGeom prst="rect">
            <a:avLst/>
          </a:prstGeom>
        </p:spPr>
      </p:pic>
      <p:sp>
        <p:nvSpPr>
          <p:cNvPr id="31" name="Text 22"/>
          <p:cNvSpPr/>
          <p:nvPr/>
        </p:nvSpPr>
        <p:spPr>
          <a:xfrm>
            <a:off x="7554039" y="6724888"/>
            <a:ext cx="1863804" cy="232886"/>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Biznes Analitikası</a:t>
            </a:r>
            <a:endParaRPr lang="en-US" sz="1450" dirty="0"/>
          </a:p>
        </p:txBody>
      </p:sp>
      <p:sp>
        <p:nvSpPr>
          <p:cNvPr id="32" name="Text 23"/>
          <p:cNvSpPr/>
          <p:nvPr/>
        </p:nvSpPr>
        <p:spPr>
          <a:xfrm>
            <a:off x="7554039" y="7047190"/>
            <a:ext cx="6390203" cy="476964"/>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Məs.: xəritədə restoran axtarışı; sizin mövqeyinizə yaxın restoranları tapıb göstərmək; geo-location sorğuları; istifadəçi analitikası və 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80773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Nəticə</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algn="l" indent="0" marL="0">
              <a:lnSpc>
                <a:spcPts val="2850"/>
              </a:lnSpc>
              <a:buNone/>
            </a:pPr>
            <a:r>
              <a:rPr lang="en-US" sz="1750" dirty="0">
                <a:solidFill>
                  <a:srgbClr val="464646"/>
                </a:solidFill>
                <a:latin typeface="Inter Medium" pitchFamily="34" charset="0"/>
                <a:ea typeface="Inter Medium" pitchFamily="34" charset="-122"/>
                <a:cs typeface="Inter Medium" pitchFamily="34" charset="-120"/>
              </a:rPr>
              <a:t>Elasticsearch — arama, analiz və data emalı üçün çox çevik, güclü və genişlənə bilən bir alətdir. Onun arxasında duran arxitektura (index + shard + cluster + document), JSON-based data modeli və REST API bu sistemi böyük data, real vaxt tələbləri və müxtəlif data tipləri ilə işləyən layihələr üçün ideal edir. Birlikdə işləyən Kibana, Logstash və Beats kimi komponentlərlə — Elastic Stack — komple bir data həllinə çevrilir.</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2025-12-04T06:19:56Z</dcterms:created>
  <dcterms:modified xsi:type="dcterms:W3CDTF">2025-12-04T06:19:56Z</dcterms:modified>
</cp:coreProperties>
</file>